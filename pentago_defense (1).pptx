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9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0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36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19375" y="4403378"/>
            <a:ext cx="1066800" cy="438150"/>
          </a:xfrm>
          <a:prstGeom prst="roundRect">
            <a:avLst>
              <a:gd name="adj" fmla="val 3339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90500" tIns="190500" rIns="190500" bIns="190500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6×6 board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14775" y="4403378"/>
            <a:ext cx="1276350" cy="438150"/>
          </a:xfrm>
          <a:prstGeom prst="roundRect">
            <a:avLst>
              <a:gd name="adj" fmla="val 3339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90500" tIns="190500" rIns="190500" bIns="190500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Alpha-beta AI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19725" y="4403378"/>
            <a:ext cx="1104900" cy="438150"/>
          </a:xfrm>
          <a:prstGeom prst="roundRect">
            <a:avLst>
              <a:gd name="adj" fmla="val 3339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90500" tIns="190500" rIns="190500" bIns="190500" rtlCol="0" anchor="t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Tkinter GUI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302121"/>
            <a:ext cx="808329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75"/>
              </a:lnSpc>
              <a:buNone/>
            </a:pPr>
            <a:r>
              <a:rPr lang="en-US" sz="8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🎮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530352" y="2064246"/>
            <a:ext cx="8083296" cy="118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360"/>
              </a:lnSpc>
              <a:buNone/>
            </a:pPr>
            <a:r>
              <a:rPr lang="en-US" sz="6240" b="1" dirty="0">
                <a:solidFill>
                  <a:srgbClr val="7C3AED"/>
                </a:solidFill>
                <a:latin typeface="Times New Roman" panose="02020603050405020304" pitchFamily="18" charset="0"/>
                <a:ea typeface="Instrument Serif" pitchFamily="34" charset="-122"/>
                <a:cs typeface="Times New Roman" panose="02020603050405020304" pitchFamily="18" charset="0"/>
              </a:rPr>
              <a:t>Pentago AI Arena</a:t>
            </a:r>
            <a:endParaRPr lang="en-US" sz="62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3405336"/>
            <a:ext cx="7924800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en-US" sz="1620" dirty="0">
                <a:solidFill>
                  <a:srgbClr val="94A3B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Project Defense • Adversarial Search • OOP Game System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154" cy="514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445770" y="329184"/>
            <a:ext cx="802386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>
                <a:solidFill>
                  <a:srgbClr val="06B6D4"/>
                </a:solidFill>
                <a:latin typeface="Aptos"/>
              </a:rPr>
              <a:t>PENTAGO AI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" y="562356"/>
            <a:ext cx="8229600" cy="4039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25" b="1">
                <a:solidFill>
                  <a:srgbClr val="F8FAFC"/>
                </a:solidFill>
                <a:latin typeface="Aptos"/>
              </a:rPr>
              <a:t>Project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770" y="1014984"/>
            <a:ext cx="685800" cy="3429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ounded Rectangle 7"/>
          <p:cNvSpPr/>
          <p:nvPr/>
        </p:nvSpPr>
        <p:spPr>
          <a:xfrm>
            <a:off x="562356" y="1474470"/>
            <a:ext cx="2434590" cy="174879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ounded Rectangle 8"/>
          <p:cNvSpPr/>
          <p:nvPr/>
        </p:nvSpPr>
        <p:spPr>
          <a:xfrm>
            <a:off x="685800" y="1611630"/>
            <a:ext cx="356616" cy="3566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685800" y="1687068"/>
            <a:ext cx="356616" cy="2423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" y="2160270"/>
            <a:ext cx="2023110" cy="31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25" b="1">
                <a:solidFill>
                  <a:srgbClr val="F8FAFC"/>
                </a:solidFill>
                <a:latin typeface="Aptos"/>
              </a:rPr>
              <a:t>Tawhid Hossain Tomal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" y="2640330"/>
            <a:ext cx="202311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Aptos"/>
              </a:rPr>
              <a:t>Team Member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0420" y="1474470"/>
            <a:ext cx="2434590" cy="174879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Rounded Rectangle 13"/>
          <p:cNvSpPr/>
          <p:nvPr/>
        </p:nvSpPr>
        <p:spPr>
          <a:xfrm>
            <a:off x="3483864" y="1611630"/>
            <a:ext cx="356616" cy="35661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3483864" y="1687068"/>
            <a:ext cx="356616" cy="2423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60270"/>
            <a:ext cx="2023110" cy="31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25" b="1">
                <a:solidFill>
                  <a:srgbClr val="F8FAFC"/>
                </a:solidFill>
                <a:latin typeface="Aptos"/>
              </a:rPr>
              <a:t>Afnan Ahmed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640330"/>
            <a:ext cx="202311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Aptos"/>
              </a:rPr>
              <a:t>Team Member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4" y="1474470"/>
            <a:ext cx="2434590" cy="174879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ounded Rectangle 18"/>
          <p:cNvSpPr/>
          <p:nvPr/>
        </p:nvSpPr>
        <p:spPr>
          <a:xfrm>
            <a:off x="6281928" y="1611630"/>
            <a:ext cx="356616" cy="35661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6281928" y="1687068"/>
            <a:ext cx="356616" cy="2423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160270"/>
            <a:ext cx="2023110" cy="31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25" b="1">
                <a:solidFill>
                  <a:srgbClr val="F8FAFC"/>
                </a:solidFill>
                <a:latin typeface="Aptos"/>
              </a:rPr>
              <a:t>Farhana Akter Tamanna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640330"/>
            <a:ext cx="202311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Aptos"/>
              </a:rPr>
              <a:t>Team Member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08820"/>
            <a:ext cx="3848100" cy="1657350"/>
          </a:xfrm>
          <a:prstGeom prst="roundRect">
            <a:avLst>
              <a:gd name="adj" fmla="val 13241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508820"/>
            <a:ext cx="3848100" cy="1657350"/>
          </a:xfrm>
          <a:prstGeom prst="roundRect">
            <a:avLst>
              <a:gd name="adj" fmla="val 13241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94770"/>
            <a:ext cx="3848100" cy="1657350"/>
          </a:xfrm>
          <a:prstGeom prst="roundRect">
            <a:avLst>
              <a:gd name="adj" fmla="val 13241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394770"/>
            <a:ext cx="3848100" cy="1657350"/>
          </a:xfrm>
          <a:prstGeom prst="roundRect">
            <a:avLst>
              <a:gd name="adj" fmla="val 13241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91529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396329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F8FAFC"/>
                </a:solidFill>
                <a:latin typeface="Times New Roman" panose="02020603050405020304" pitchFamily="18" charset="0"/>
                <a:ea typeface="Instrument Serif" pitchFamily="34" charset="-122"/>
                <a:cs typeface="Times New Roman" panose="02020603050405020304" pitchFamily="18" charset="0"/>
              </a:rPr>
              <a:t>How the defense will flow</a:t>
            </a:r>
            <a:endParaRPr lang="en-US" sz="3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7725" y="1746945"/>
            <a:ext cx="34392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7725" y="212794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Game model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7725" y="2470845"/>
            <a:ext cx="3371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Rules, board mechanics, and state representation.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24425" y="1746945"/>
            <a:ext cx="34392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24425" y="212794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Architecture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24425" y="2470845"/>
            <a:ext cx="3371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How modules separate UI, logic, AI, and persistence.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7725" y="3632895"/>
            <a:ext cx="34392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7725" y="401389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engine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7725" y="4356795"/>
            <a:ext cx="3371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Minimax, alpha-beta pruning, move ordering, and difficulty control.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24425" y="3632895"/>
            <a:ext cx="34392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24425" y="401389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Engineering quality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24425" y="4356795"/>
            <a:ext cx="3371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Threading, JSON storage, usability features, and demo talking points.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32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26"/>
          <p:cNvSpPr/>
          <p:nvPr/>
        </p:nvSpPr>
        <p:spPr>
          <a:xfrm>
            <a:off x="609600" y="-102840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2" name="Text 27"/>
          <p:cNvSpPr/>
          <p:nvPr/>
        </p:nvSpPr>
        <p:spPr>
          <a:xfrm>
            <a:off x="0" y="-102840"/>
            <a:ext cx="56007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Times New Roman" panose="02020603050405020304" pitchFamily="18" charset="0"/>
                <a:ea typeface="Instrument Serif" pitchFamily="34" charset="-122"/>
                <a:cs typeface="Times New Roman" panose="02020603050405020304" pitchFamily="18" charset="0"/>
              </a:rPr>
              <a:t>Pentago as a state-space problem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28"/>
          <p:cNvSpPr/>
          <p:nvPr/>
        </p:nvSpPr>
        <p:spPr>
          <a:xfrm>
            <a:off x="669806" y="1314450"/>
            <a:ext cx="4113733" cy="3742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game uses a 6×6 board split into four rotatable 3×3 quadrants.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Each turn has two actions: place one marble, then rotate one quadrant clockwise or counter-clockwise.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configured win test checks five contiguous marbles in rows or columns, not diagonals.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creates a large branching factor because one placement can be paired with 8 rotation choices.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71E01AD-5F42-4760-909C-07E1B34AE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744" y="1360140"/>
            <a:ext cx="3916564" cy="21042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95425"/>
            <a:ext cx="2489150" cy="2190750"/>
          </a:xfrm>
          <a:prstGeom prst="roundRect">
            <a:avLst>
              <a:gd name="adj" fmla="val 10017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495425"/>
            <a:ext cx="2489150" cy="2190750"/>
          </a:xfrm>
          <a:prstGeom prst="roundRect">
            <a:avLst>
              <a:gd name="adj" fmla="val 10017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495425"/>
            <a:ext cx="2489299" cy="2190750"/>
          </a:xfrm>
          <a:prstGeom prst="roundRect">
            <a:avLst>
              <a:gd name="adj" fmla="val 10017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952875"/>
            <a:ext cx="7924800" cy="990600"/>
          </a:xfrm>
          <a:prstGeom prst="roundRect">
            <a:avLst>
              <a:gd name="adj" fmla="val 22153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lIns="228600" tIns="228600" rIns="228600" bIns="2286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separation improves maintainability: mechanics can be tested independently, while UI changes do not rewrite AI search logic.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0002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50482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Times New Roman" panose="02020603050405020304" pitchFamily="18" charset="0"/>
                <a:ea typeface="Instrument Serif" pitchFamily="34" charset="-122"/>
                <a:cs typeface="Times New Roman" panose="02020603050405020304" pitchFamily="18" charset="0"/>
              </a:rPr>
              <a:t>Modular OOP design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09140" y="1809750"/>
            <a:ext cx="20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🧩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47725" y="2190750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board.py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7725" y="2533650"/>
            <a:ext cx="201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PentagoBoard owns legal placement, rotation, and win-state mechanics.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24669" y="1834487"/>
            <a:ext cx="20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565475" y="2190750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ai.py + evaluator.py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65475" y="2533650"/>
            <a:ext cx="201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Search logic and heuristic scoring stay isolated from rendering code.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26527" y="1781175"/>
            <a:ext cx="2053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283226" y="2190750"/>
            <a:ext cx="2053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gui.py + score.py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83226" y="2533650"/>
            <a:ext cx="20130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Tkinter interface, background AI turn handling, timer, and persistent score tracking.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95425"/>
            <a:ext cx="4177010" cy="3448050"/>
          </a:xfrm>
          <a:prstGeom prst="roundRect">
            <a:avLst>
              <a:gd name="adj" fmla="val 6364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53310" y="1495425"/>
            <a:ext cx="3480941" cy="3448050"/>
          </a:xfrm>
          <a:prstGeom prst="roundRect">
            <a:avLst>
              <a:gd name="adj" fmla="val 6364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0002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50482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Times New Roman" panose="02020603050405020304" pitchFamily="18" charset="0"/>
                <a:ea typeface="Instrument Serif" pitchFamily="34" charset="-122"/>
                <a:cs typeface="Times New Roman" panose="02020603050405020304" pitchFamily="18" charset="0"/>
              </a:rPr>
              <a:t>Minimax search with alpha-beta pruning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86828" y="1749188"/>
            <a:ext cx="36970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Decision logic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4425" y="2152650"/>
            <a:ext cx="339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Max node:</a:t>
            </a: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AI chooses the move with the highest evaluation score.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" y="2781300"/>
            <a:ext cx="339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Min node:</a:t>
            </a: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Human is modeled as an optimal opponent minimizing AI advantage.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4425" y="3409950"/>
            <a:ext cx="339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Terminal test:</a:t>
            </a: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Immediate wins return a very large positive or negative score.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4425" y="4038600"/>
            <a:ext cx="339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Depth limit:</a:t>
            </a: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Non-terminal boards are estimated by the heuristic evaluator.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56939" y="1771650"/>
            <a:ext cx="29870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Core pruning idea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67647" y="2378422"/>
            <a:ext cx="2928491" cy="148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if maximizing: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 best = -∞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 for move in ordered_moves: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 value = search(child, depth-1, alpha, beta, False)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 alpha = max(alpha, value)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 if alpha ≥ beta: break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55130" y="3826222"/>
            <a:ext cx="29284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Pruning removes branches that cannot improve the final choice.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04925"/>
            <a:ext cx="3848100" cy="3829050"/>
          </a:xfrm>
          <a:prstGeom prst="roundRect">
            <a:avLst>
              <a:gd name="adj" fmla="val 573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5825" y="2000250"/>
            <a:ext cx="552450" cy="899071"/>
          </a:xfrm>
          <a:prstGeom prst="roundRect">
            <a:avLst>
              <a:gd name="adj" fmla="val 231724"/>
            </a:avLst>
          </a:prstGeom>
          <a:solidFill>
            <a:srgbClr val="7C3AED">
              <a:alpha val="3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14475" y="2000250"/>
            <a:ext cx="552450" cy="899071"/>
          </a:xfrm>
          <a:prstGeom prst="roundRect">
            <a:avLst>
              <a:gd name="adj" fmla="val 231724"/>
            </a:avLst>
          </a:prstGeom>
          <a:solidFill>
            <a:srgbClr val="7C3AED">
              <a:alpha val="22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43125" y="2000250"/>
            <a:ext cx="552450" cy="899071"/>
          </a:xfrm>
          <a:prstGeom prst="roundRect">
            <a:avLst>
              <a:gd name="adj" fmla="val 231724"/>
            </a:avLst>
          </a:prstGeom>
          <a:solidFill>
            <a:srgbClr val="7C3AED">
              <a:alpha val="1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89306" y="2000250"/>
            <a:ext cx="666750" cy="899071"/>
          </a:xfrm>
          <a:prstGeom prst="roundRect">
            <a:avLst>
              <a:gd name="adj" fmla="val 192000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32256" y="1991766"/>
            <a:ext cx="666750" cy="899071"/>
          </a:xfrm>
          <a:prstGeom prst="roundRect">
            <a:avLst>
              <a:gd name="adj" fmla="val 192000"/>
            </a:avLst>
          </a:prstGeom>
          <a:solidFill>
            <a:srgbClr val="EF4444">
              <a:alpha val="3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86300" y="1304925"/>
            <a:ext cx="3848100" cy="3829050"/>
          </a:xfrm>
          <a:prstGeom prst="roundRect">
            <a:avLst>
              <a:gd name="adj" fmla="val 573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952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31432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Times New Roman" panose="02020603050405020304" pitchFamily="18" charset="0"/>
                <a:ea typeface="Instrument Serif" pitchFamily="34" charset="-122"/>
                <a:cs typeface="Times New Roman" panose="02020603050405020304" pitchFamily="18" charset="0"/>
              </a:rPr>
              <a:t>How non-terminal boards are scored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63748" y="1590675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Window-based patterns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92708" y="2202988"/>
            <a:ext cx="552450" cy="89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+500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20453" y="2192443"/>
            <a:ext cx="552450" cy="89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+50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46634" y="2192443"/>
            <a:ext cx="552450" cy="89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+5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09875" y="2192443"/>
            <a:ext cx="666750" cy="89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Human 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-50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42821" y="2188889"/>
            <a:ext cx="666750" cy="89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Human 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-500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5825" y="3051721"/>
            <a:ext cx="3295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All 5-cell windows across rows and columns are scanned. Mixed windows containing both players are ignored because they are blocked.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27050" y="1585984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Positional bias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5311" y="2253327"/>
            <a:ext cx="329565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Center cells of each quadrant receive a small bonus.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encourages stable control over strategically active areas.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bonus is lightweight, so pattern completion remains the dominant signal.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heuristic stays zero-sum: AI rewards mirror human penalties.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28750"/>
            <a:ext cx="3848100" cy="3581400"/>
          </a:xfrm>
          <a:prstGeom prst="roundRect">
            <a:avLst>
              <a:gd name="adj" fmla="val 612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5825" y="2428875"/>
            <a:ext cx="3295650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85825" y="3057525"/>
            <a:ext cx="3295650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5825" y="3686175"/>
            <a:ext cx="3295650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86300" y="1428750"/>
            <a:ext cx="3848100" cy="3581400"/>
          </a:xfrm>
          <a:prstGeom prst="roundRect">
            <a:avLst>
              <a:gd name="adj" fmla="val 612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33350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43815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Times New Roman" panose="02020603050405020304" pitchFamily="18" charset="0"/>
                <a:ea typeface="Instrument Serif" pitchFamily="34" charset="-122"/>
                <a:cs typeface="Times New Roman" panose="02020603050405020304" pitchFamily="18" charset="0"/>
              </a:rPr>
              <a:t>Move ordering and branching-factor control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00962" y="1704975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Candidate prioritization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7463" y="2155778"/>
            <a:ext cx="11269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High local activity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76675" y="2162175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37463" y="2790825"/>
            <a:ext cx="13504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Medium local activity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76675" y="2790825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66609" y="3409950"/>
            <a:ext cx="10978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Low local activity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76675" y="3419475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66609" y="4048125"/>
            <a:ext cx="2973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cell_activity() ranks empty cells by nearby piece density, so tactical zones are searched first.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08937" y="1704975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Why it matters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77452" y="2266950"/>
            <a:ext cx="329565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Better move order means earlier alpha-beta cutoffs.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Advanced mode also caps explored cells at deeper levels to keep response time practical.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is an example of algorithm engineering: same theory, faster execution.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09775"/>
            <a:ext cx="2489150" cy="2419350"/>
          </a:xfrm>
          <a:prstGeom prst="roundRect">
            <a:avLst>
              <a:gd name="adj" fmla="val 9070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2009775"/>
            <a:ext cx="2489150" cy="2419350"/>
          </a:xfrm>
          <a:prstGeom prst="roundRect">
            <a:avLst>
              <a:gd name="adj" fmla="val 9070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009775"/>
            <a:ext cx="2489299" cy="2419350"/>
          </a:xfrm>
          <a:prstGeom prst="roundRect">
            <a:avLst>
              <a:gd name="adj" fmla="val 9070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71437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101917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Times New Roman" panose="02020603050405020304" pitchFamily="18" charset="0"/>
                <a:ea typeface="Instrument Serif" pitchFamily="34" charset="-122"/>
                <a:cs typeface="Times New Roman" panose="02020603050405020304" pitchFamily="18" charset="0"/>
              </a:rPr>
              <a:t>Balancing skill and playability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34829" y="2305050"/>
            <a:ext cx="20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47725" y="2705100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Easy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7725" y="3048000"/>
            <a:ext cx="2012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Depth 1 lookahead and a 40% chance to play a random move, making behavior less predictable and more forgiving.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51796" y="2295525"/>
            <a:ext cx="20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565475" y="2705100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Medium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5475" y="3048000"/>
            <a:ext cx="201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Depth 2 search chooses the best minimax branch without randomization.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269620" y="2247900"/>
            <a:ext cx="2053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283226" y="2705100"/>
            <a:ext cx="2053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Advanced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83226" y="3048000"/>
            <a:ext cx="201304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Depth 3 with move ordering and cell caps produces stronger tactical play while keeping latency manageable.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05136"/>
            <a:ext cx="3848100" cy="2828776"/>
          </a:xfrm>
          <a:prstGeom prst="roundRect">
            <a:avLst>
              <a:gd name="adj" fmla="val 7758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805136"/>
            <a:ext cx="3848100" cy="2828776"/>
          </a:xfrm>
          <a:prstGeom prst="roundRect">
            <a:avLst>
              <a:gd name="adj" fmla="val 7758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509736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814536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Times New Roman" panose="02020603050405020304" pitchFamily="18" charset="0"/>
                <a:ea typeface="Instrument Serif" pitchFamily="34" charset="-122"/>
                <a:cs typeface="Times New Roman" panose="02020603050405020304" pitchFamily="18" charset="0"/>
              </a:rPr>
              <a:t>Rotations and fast pattern detection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07049" y="2081361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Sub-board rotation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5825" y="2500461"/>
            <a:ext cx="32956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Quadrant index maps to a 3×3 slice using row and column offsets, then numpy.rot90 rotates that sub-matrix clockwise or counter-clockwise.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66875" y="3743910"/>
            <a:ext cx="3295650" cy="63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r0 = (quadrant // 2) × 3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c0 = (quadrant % 2) × 3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sub = board[r0:r0+3, c0:c0+3]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55149" y="2090886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Convolution-based win test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62525" y="2500461"/>
            <a:ext cx="32956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evaluator converts a player mask to binary and uses a ones-kernel of length 5. A convolution value of at least 5 means five contiguous marbles.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88105" y="3710136"/>
            <a:ext cx="3295650" cy="63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mask = (board == player).astype(int)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kernel = np.ones(5, dtype=int)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74"/>
              </a:lnSpc>
              <a:buNone/>
            </a:pPr>
            <a:r>
              <a:rPr lang="en-US" sz="1080" dirty="0">
                <a:solidFill>
                  <a:srgbClr val="DBE4F0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np.convolve(line, kernel, 'valid')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62050"/>
            <a:ext cx="3848100" cy="2914650"/>
          </a:xfrm>
          <a:prstGeom prst="roundRect">
            <a:avLst>
              <a:gd name="adj" fmla="val 7529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162050"/>
            <a:ext cx="3848100" cy="2914650"/>
          </a:xfrm>
          <a:prstGeom prst="roundRect">
            <a:avLst>
              <a:gd name="adj" fmla="val 7529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343400"/>
            <a:ext cx="7924800" cy="933450"/>
          </a:xfrm>
          <a:prstGeom prst="roundRect">
            <a:avLst>
              <a:gd name="adj" fmla="val 23510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28600" tIns="228600" rIns="228600" bIns="2286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These two features are good defense points because they show attention to user experience, not only algorithm correctness</a:t>
            </a: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7145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Times New Roman" panose="02020603050405020304" pitchFamily="18" charset="0"/>
                <a:ea typeface="Instrument Serif" pitchFamily="34" charset="-122"/>
                <a:cs typeface="Times New Roman" panose="02020603050405020304" pitchFamily="18" charset="0"/>
              </a:rPr>
              <a:t>Responsiveness and persistence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9685" y="1476375"/>
            <a:ext cx="33615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1738" y="1857375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Threaded AI turns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1738" y="2200275"/>
            <a:ext cx="329565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GUI starts AI computation on a daemon thread, then safely returns the chosen move to the Tkinter main loop with root.after(). This prevents the window from freezing during deeper search.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31333" y="1461163"/>
            <a:ext cx="33615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62525" y="1857375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Persistent scores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62525" y="2200275"/>
            <a:ext cx="32956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ScoreManager stores high-score data in JSON and wraps file operations with fallback error handling, so session data can survive across runs.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445770" y="562356"/>
            <a:ext cx="8229600" cy="4039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25" b="1">
                <a:solidFill>
                  <a:srgbClr val="F8FAFC"/>
                </a:solidFill>
                <a:latin typeface="Apto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770" y="1014984"/>
            <a:ext cx="685800" cy="3429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582930" y="1268730"/>
            <a:ext cx="171450" cy="288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5" b="1">
                <a:solidFill>
                  <a:srgbClr val="06B6D4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68730"/>
            <a:ext cx="7715250" cy="288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5">
                <a:solidFill>
                  <a:srgbClr val="CBD5E1"/>
                </a:solidFill>
                <a:latin typeface="Aptos"/>
              </a:rPr>
              <a:t>Developed a complete Pentago game with a modular object-oriented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930" y="1748790"/>
            <a:ext cx="171450" cy="288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5" b="1">
                <a:solidFill>
                  <a:srgbClr val="06B6D4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48790"/>
            <a:ext cx="7715250" cy="288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5">
                <a:solidFill>
                  <a:srgbClr val="CBD5E1"/>
                </a:solidFill>
                <a:latin typeface="Aptos"/>
              </a:rPr>
              <a:t>Implemented an AI opponent using minimax search and alpha-beta pruning.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" y="2228850"/>
            <a:ext cx="171450" cy="288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5" b="1">
                <a:solidFill>
                  <a:srgbClr val="06B6D4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28850"/>
            <a:ext cx="7715250" cy="288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5">
                <a:solidFill>
                  <a:srgbClr val="CBD5E1"/>
                </a:solidFill>
                <a:latin typeface="Aptos"/>
              </a:rPr>
              <a:t>Improved practical performance through move ordering and limited search depth.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930" y="2708910"/>
            <a:ext cx="171450" cy="288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5" b="1">
                <a:solidFill>
                  <a:srgbClr val="06B6D4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08910"/>
            <a:ext cx="7715250" cy="288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5">
                <a:solidFill>
                  <a:srgbClr val="CBD5E1"/>
                </a:solidFill>
                <a:latin typeface="Aptos"/>
              </a:rPr>
              <a:t>Added difficulty levels to balance AI strength and player enjoyment.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30" y="3188970"/>
            <a:ext cx="171450" cy="288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5" b="1">
                <a:solidFill>
                  <a:srgbClr val="06B6D4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88970"/>
            <a:ext cx="7715250" cy="288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5">
                <a:solidFill>
                  <a:srgbClr val="CBD5E1"/>
                </a:solidFill>
                <a:latin typeface="Aptos"/>
              </a:rPr>
              <a:t>Integrated a responsive GUI, threaded AI turns, and persistent score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74770"/>
            <a:ext cx="7852410" cy="4937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740664" y="4032504"/>
            <a:ext cx="7475220" cy="2654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5" b="1">
                <a:solidFill>
                  <a:srgbClr val="F8FAFC"/>
                </a:solidFill>
                <a:latin typeface="Aptos"/>
              </a:rPr>
              <a:t>Pentago AI Arena connects AI algorithms, software architecture, and GUI design in one playable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2538" y="4168229"/>
            <a:ext cx="6638925" cy="628650"/>
          </a:xfrm>
          <a:prstGeom prst="roundRect">
            <a:avLst>
              <a:gd name="adj" fmla="val 34909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304800" tIns="304800" rIns="304800" bIns="304800" rtlCol="0" anchor="t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questions on algorithm design, architecture, and implementation choices.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346621"/>
            <a:ext cx="8083296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0"/>
              </a:lnSpc>
              <a:buNone/>
            </a:pPr>
            <a:r>
              <a:rPr lang="en-US" sz="7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530352" y="1965871"/>
            <a:ext cx="808329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100"/>
              </a:lnSpc>
              <a:buNone/>
            </a:pPr>
            <a:r>
              <a:rPr lang="en-US" sz="5400" b="1" dirty="0">
                <a:solidFill>
                  <a:srgbClr val="7C3AE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600" y="3146971"/>
            <a:ext cx="7924800" cy="640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931</Words>
  <Application>Microsoft Office PowerPoint</Application>
  <PresentationFormat>On-screen Show (16:9)</PresentationFormat>
  <Paragraphs>146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Instrument Serif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Afnan Ahmad</cp:lastModifiedBy>
  <cp:revision>9</cp:revision>
  <dcterms:created xsi:type="dcterms:W3CDTF">2026-08-03T20:04:25Z</dcterms:created>
  <dcterms:modified xsi:type="dcterms:W3CDTF">2026-08-19T04:52:40Z</dcterms:modified>
</cp:coreProperties>
</file>